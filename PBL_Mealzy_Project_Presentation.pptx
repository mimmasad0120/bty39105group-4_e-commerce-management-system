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4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298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640080"/>
            <a:ext cx="2011680" cy="2011680"/>
          </a:xfrm>
          <a:prstGeom prst="ellipse">
            <a:avLst/>
          </a:prstGeom>
          <a:solidFill>
            <a:srgbClr val="25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2926080"/>
            <a:ext cx="1463040" cy="1463040"/>
          </a:xfrm>
          <a:prstGeom prst="ellipse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4114800"/>
            <a:ext cx="1005840" cy="1005840"/>
          </a:xfrm>
          <a:prstGeom prst="ellipse">
            <a:avLst/>
          </a:prstGeom>
          <a:solidFill>
            <a:srgbClr val="DB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858000" cy="8229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MEALZY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68580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200" b="1">
                <a:solidFill>
                  <a:srgbClr val="96DCD3"/>
                </a:solidFill>
                <a:latin typeface="Aptos"/>
              </a:defRPr>
            </a:pPr>
            <a:r>
              <a:t>FOOD DELIVERY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6126480" cy="4572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71323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0">
                <a:solidFill>
                  <a:srgbClr val="DCE6EE"/>
                </a:solidFill>
                <a:latin typeface="Aptos"/>
              </a:defRPr>
            </a:pPr>
            <a:r>
              <a:t>Flask • MySQL • HTML • CSS •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12080"/>
            <a:ext cx="5120640" cy="28931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Members</a:t>
            </a:r>
            <a:r>
              <a:rPr dirty="0"/>
              <a:t>:</a:t>
            </a:r>
            <a:r>
              <a:rPr lang="en-US" dirty="0"/>
              <a:t> Mimmasad sk, Sabbir Hossain, </a:t>
            </a:r>
            <a:r>
              <a:rPr lang="en-US" sz="1400" dirty="0">
                <a:solidFill>
                  <a:srgbClr val="FFFFFF"/>
                </a:solidFill>
                <a:latin typeface="Aptos"/>
              </a:rPr>
              <a:t>Priyabrata Mondal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6035040" cy="28931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Department :</a:t>
            </a:r>
            <a:r>
              <a:rPr lang="en-US" dirty="0"/>
              <a:t> </a:t>
            </a:r>
            <a:r>
              <a:rPr lang="en-US" dirty="0" err="1"/>
              <a:t>Btech.CSE</a:t>
            </a:r>
            <a:r>
              <a:rPr lang="en-US" dirty="0"/>
              <a:t>-CYS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972800" y="626364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What Mealzy is designed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968F"/>
                </a:solidFill>
                <a:latin typeface="Aptos"/>
              </a:defRPr>
            </a:pPr>
            <a:r>
              <a:t>Customer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3063240" cy="1161287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Browse food, create an account, place orders, and review order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88366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537E"/>
                </a:solidFill>
                <a:latin typeface="Aptos"/>
              </a:defRPr>
            </a:pPr>
            <a:r>
              <a:t>Backend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59152"/>
            <a:ext cx="3063240" cy="1161287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Flask routes validate requests and coordinate database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88366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DBA64A"/>
                </a:solidFill>
                <a:latin typeface="Aptos"/>
              </a:defRPr>
            </a:pPr>
            <a:r>
              <a:t>Central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59152"/>
            <a:ext cx="3063240" cy="1161287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MySQL stores customer, product, order, and payment-transaction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82880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700" b="1">
                <a:solidFill>
                  <a:srgbClr val="25537E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10332720" cy="8229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300" b="1">
                <a:solidFill>
                  <a:srgbClr val="162436"/>
                </a:solidFill>
                <a:latin typeface="Aptos"/>
              </a:defRPr>
            </a:pPr>
            <a:r>
              <a:t>One web application connects the customer interface, server-side logic, and persistent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515600" cy="4114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300" b="0">
                <a:solidFill>
                  <a:srgbClr val="66737E"/>
                </a:solidFill>
                <a:latin typeface="Aptos"/>
              </a:defRPr>
            </a:pPr>
            <a:r>
              <a:t>The project is a development build; production readiness depends on testing and configuration.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Why the project was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37944"/>
            <a:ext cx="4709159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968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13432"/>
            <a:ext cx="4709159" cy="3493007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Manual order handling can cause duplicated entries, inconsistent status, and slow access to customer or order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37944"/>
            <a:ext cx="4709159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537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13432"/>
            <a:ext cx="4709159" cy="3493007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• Build a clean web interface</a:t>
            </a:r>
            <a:br/>
            <a:r>
              <a:t>• Use Flask for backend logic</a:t>
            </a:r>
            <a:br/>
            <a:r>
              <a:t>• Use MySQL for persistent storage</a:t>
            </a:r>
            <a:br/>
            <a:r>
              <a:t>• Organize customers, products, and orders</a:t>
            </a:r>
            <a:br/>
            <a:r>
              <a:t>• Explore secure online payment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080760"/>
            <a:ext cx="1024128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1">
                <a:solidFill>
                  <a:srgbClr val="25968F"/>
                </a:solidFill>
                <a:latin typeface="Aptos"/>
              </a:defRPr>
            </a:pPr>
            <a:r>
              <a:t>Goal: make food-ordering information easier to store, retrieve, and manage.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Tools and their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30175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537E"/>
                </a:solidFill>
                <a:latin typeface="Aptos"/>
              </a:defRPr>
            </a:pPr>
            <a:r>
              <a:t>Python +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3017520" cy="8869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Server routes, validation, 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746504"/>
            <a:ext cx="30175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968F"/>
                </a:solidFill>
                <a:latin typeface="Aptos"/>
              </a:defRPr>
            </a:pPr>
            <a:r>
              <a:t>HTML +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21992"/>
            <a:ext cx="3017520" cy="8869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Page structure and visual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002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59" y="1746504"/>
            <a:ext cx="30175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DBA64A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221992"/>
            <a:ext cx="3017520" cy="8869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Interactive actions and API requests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803904"/>
            <a:ext cx="30175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537E"/>
                </a:solidFill>
                <a:latin typeface="Aptos"/>
              </a:defRPr>
            </a:pPr>
            <a:r>
              <a:t>MySQL + SQLAlchemy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79392"/>
            <a:ext cx="3017520" cy="8869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Relational storage and database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657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3803904"/>
            <a:ext cx="30175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968F"/>
                </a:solidFill>
                <a:latin typeface="Aptos"/>
              </a:defRPr>
            </a:pPr>
            <a:r>
              <a:t>MySQL Workbench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79392"/>
            <a:ext cx="3017520" cy="8869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Database inspection and SQL queries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657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59" y="3803904"/>
            <a:ext cx="30175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DBA64A"/>
                </a:solidFill>
                <a:latin typeface="Aptos"/>
              </a:defRPr>
            </a:pPr>
            <a:r>
              <a:t>Razorpay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4279392"/>
            <a:ext cx="3017520" cy="8869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Payment-order and verification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How a request moves through Mealzy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194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5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2011679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500" b="1">
                <a:solidFill>
                  <a:srgbClr val="25537E"/>
                </a:solidFill>
                <a:latin typeface="Aptos"/>
              </a:defRPr>
            </a:pPr>
            <a:r>
              <a:t>Browser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011679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100" b="0">
                <a:solidFill>
                  <a:srgbClr val="2D3741"/>
                </a:solidFill>
                <a:latin typeface="Aptos"/>
              </a:defRPr>
            </a:pPr>
            <a:r>
              <a:t>HTML / CSS / 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148840"/>
            <a:ext cx="2194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2304288"/>
            <a:ext cx="2011679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500" b="1">
                <a:solidFill>
                  <a:srgbClr val="25968F"/>
                </a:solidFill>
                <a:latin typeface="Aptos"/>
              </a:defRPr>
            </a:pPr>
            <a:r>
              <a:t>Flask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697480"/>
            <a:ext cx="2011679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100" b="0">
                <a:solidFill>
                  <a:srgbClr val="2D3741"/>
                </a:solidFill>
                <a:latin typeface="Aptos"/>
              </a:defRPr>
            </a:pPr>
            <a:r>
              <a:t>Routes +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148840"/>
            <a:ext cx="2194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2304288"/>
            <a:ext cx="2011679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500" b="1">
                <a:solidFill>
                  <a:srgbClr val="DBA64A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697480"/>
            <a:ext cx="2011679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100" b="0">
                <a:solidFill>
                  <a:srgbClr val="2D3741"/>
                </a:solidFill>
                <a:latin typeface="Aptos"/>
              </a:defRPr>
            </a:pPr>
            <a:r>
              <a:t>Persistent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14884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5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2304288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500" b="1">
                <a:solidFill>
                  <a:srgbClr val="25537E"/>
                </a:solidFill>
                <a:latin typeface="Aptos"/>
              </a:defRPr>
            </a:pPr>
            <a:r>
              <a:t>Razorpay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97480"/>
            <a:ext cx="2560320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100" b="0">
                <a:solidFill>
                  <a:srgbClr val="2D3741"/>
                </a:solidFill>
                <a:latin typeface="Aptos"/>
              </a:defRPr>
            </a:pPr>
            <a:r>
              <a:t>Gateway payment flow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2679192"/>
            <a:ext cx="457200" cy="0"/>
          </a:xfrm>
          <a:prstGeom prst="line">
            <a:avLst/>
          </a:prstGeom>
          <a:ln w="25400">
            <a:solidFill>
              <a:srgbClr val="66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0680" y="2679192"/>
            <a:ext cx="457200" cy="0"/>
          </a:xfrm>
          <a:prstGeom prst="line">
            <a:avLst/>
          </a:prstGeom>
          <a:ln w="25400">
            <a:solidFill>
              <a:srgbClr val="66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92440" y="2679192"/>
            <a:ext cx="457200" cy="0"/>
          </a:xfrm>
          <a:prstGeom prst="line">
            <a:avLst/>
          </a:prstGeom>
          <a:ln w="25400">
            <a:solidFill>
              <a:srgbClr val="66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900" b="1">
                <a:solidFill>
                  <a:srgbClr val="162436"/>
                </a:solidFill>
                <a:latin typeface="Aptos"/>
              </a:defRPr>
            </a:pPr>
            <a:r>
              <a:t>Browser sends requests → Flask validates and processes → MySQL stores or retrieves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0">
                <a:solidFill>
                  <a:srgbClr val="66737E"/>
                </a:solidFill>
                <a:latin typeface="Aptos"/>
              </a:defRPr>
            </a:pPr>
            <a:r>
              <a:t>Payment requests are handled by the backend; secret gateway credentials remain server-side.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Main Functional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Core areas of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0241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700784"/>
            <a:ext cx="9875519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968F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76272"/>
            <a:ext cx="9875519" cy="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Registration, sign-in, and account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04872"/>
            <a:ext cx="10241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551176"/>
            <a:ext cx="9875519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537E"/>
                </a:solidFill>
                <a:latin typeface="Aptos"/>
              </a:defRPr>
            </a:pPr>
            <a:r>
              <a:t>Product catalogue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26664"/>
            <a:ext cx="9875519" cy="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Food name, category, description, price, stock,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55264"/>
            <a:ext cx="10241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401568"/>
            <a:ext cx="9875519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968F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77056"/>
            <a:ext cx="9875519" cy="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Customer, product, quantity, total, address,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05656"/>
            <a:ext cx="10241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251960"/>
            <a:ext cx="9875519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537E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27448"/>
            <a:ext cx="9875519" cy="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Summary of customer, product, and order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56048"/>
            <a:ext cx="10241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102352"/>
            <a:ext cx="9875519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968F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9875519" cy="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Gateway order creation, transaction record,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MySQL 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Main tables and their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700" b="1">
                <a:solidFill>
                  <a:srgbClr val="25537E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600200"/>
            <a:ext cx="7315200" cy="4114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0">
                <a:solidFill>
                  <a:srgbClr val="2D3741"/>
                </a:solidFill>
                <a:latin typeface="Aptos"/>
              </a:defRPr>
            </a:pPr>
            <a:r>
              <a:t>Account identity and contact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30552"/>
            <a:ext cx="10058400" cy="10972"/>
          </a:xfrm>
          <a:prstGeom prst="rect">
            <a:avLst/>
          </a:prstGeom>
          <a:solidFill>
            <a:srgbClr val="DA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700" b="1">
                <a:solidFill>
                  <a:srgbClr val="25537E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04872"/>
            <a:ext cx="7315200" cy="4114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0">
                <a:solidFill>
                  <a:srgbClr val="2D3741"/>
                </a:solidFill>
                <a:latin typeface="Aptos"/>
              </a:defRPr>
            </a:pPr>
            <a:r>
              <a:t>Catalogue details, price, unit, stock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35224"/>
            <a:ext cx="10058400" cy="10972"/>
          </a:xfrm>
          <a:prstGeom prst="rect">
            <a:avLst/>
          </a:prstGeom>
          <a:solidFill>
            <a:srgbClr val="DA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09544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700" b="1">
                <a:solidFill>
                  <a:srgbClr val="25537E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09544"/>
            <a:ext cx="7315200" cy="4114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0">
                <a:solidFill>
                  <a:srgbClr val="2D3741"/>
                </a:solidFill>
                <a:latin typeface="Aptos"/>
              </a:defRPr>
            </a:pPr>
            <a:r>
              <a:t>Product, quantity, total, delivery and status fields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39896"/>
            <a:ext cx="10058400" cy="10972"/>
          </a:xfrm>
          <a:prstGeom prst="rect">
            <a:avLst/>
          </a:prstGeom>
          <a:solidFill>
            <a:srgbClr val="DA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700" b="1">
                <a:solidFill>
                  <a:srgbClr val="25537E"/>
                </a:solidFill>
                <a:latin typeface="Aptos"/>
              </a:defRPr>
            </a:pPr>
            <a:r>
              <a:t>payment_transactions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014216"/>
            <a:ext cx="7315200" cy="4114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0">
                <a:solidFill>
                  <a:srgbClr val="2D3741"/>
                </a:solidFill>
                <a:latin typeface="Aptos"/>
              </a:defRPr>
            </a:pPr>
            <a:r>
              <a:t>Gateway order/payment IDs, amount, status, timestamps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44568"/>
            <a:ext cx="10058400" cy="10972"/>
          </a:xfrm>
          <a:prstGeom prst="rect">
            <a:avLst/>
          </a:prstGeom>
          <a:solidFill>
            <a:srgbClr val="DA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818888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700" b="1">
                <a:solidFill>
                  <a:srgbClr val="25537E"/>
                </a:solidFill>
                <a:latin typeface="Aptos"/>
              </a:defRPr>
            </a:pPr>
            <a:r>
              <a:t>pending_registration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818888"/>
            <a:ext cx="7315200" cy="4114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0">
                <a:solidFill>
                  <a:srgbClr val="2D3741"/>
                </a:solidFill>
                <a:latin typeface="Aptos"/>
              </a:defRPr>
            </a:pPr>
            <a:r>
              <a:t>Pending registration and OTP-related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98755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968F"/>
                </a:solidFill>
                <a:latin typeface="Aptos"/>
              </a:defRPr>
            </a:pPr>
            <a:r>
              <a:t>Database used during development: mealzy_main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Order &amp; Payment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From order placement to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08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828800"/>
            <a:ext cx="640080" cy="640080"/>
          </a:xfrm>
          <a:prstGeom prst="ellipse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47672"/>
            <a:ext cx="64008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97480"/>
            <a:ext cx="196596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400" b="1">
                <a:solidFill>
                  <a:srgbClr val="162436"/>
                </a:solidFill>
                <a:latin typeface="Aptos"/>
              </a:defRPr>
            </a:pPr>
            <a:r>
              <a:t>Select 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46120"/>
            <a:ext cx="1965960" cy="10972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100" b="0">
                <a:solidFill>
                  <a:srgbClr val="2D3741"/>
                </a:solidFill>
                <a:latin typeface="Aptos"/>
              </a:defRPr>
            </a:pPr>
            <a:r>
              <a:t>Customer chooses product and quantity.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148840"/>
            <a:ext cx="1005840" cy="0"/>
          </a:xfrm>
          <a:prstGeom prst="line">
            <a:avLst/>
          </a:prstGeom>
          <a:ln w="19050">
            <a:solidFill>
              <a:srgbClr val="66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10712" y="1828800"/>
            <a:ext cx="640080" cy="640080"/>
          </a:xfrm>
          <a:prstGeom prst="ellipse">
            <a:avLst/>
          </a:prstGeom>
          <a:solidFill>
            <a:srgbClr val="25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1947672"/>
            <a:ext cx="64008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697480"/>
            <a:ext cx="196596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400" b="1">
                <a:solidFill>
                  <a:srgbClr val="162436"/>
                </a:solidFill>
                <a:latin typeface="Aptos"/>
              </a:defRPr>
            </a:pPr>
            <a:r>
              <a:t>Create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3246120"/>
            <a:ext cx="1965960" cy="10972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100" b="0">
                <a:solidFill>
                  <a:srgbClr val="2D3741"/>
                </a:solidFill>
                <a:latin typeface="Aptos"/>
              </a:defRPr>
            </a:pPr>
            <a:r>
              <a:t>Backend validates details and stores the order.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96512" y="2148840"/>
            <a:ext cx="1005840" cy="0"/>
          </a:xfrm>
          <a:prstGeom prst="line">
            <a:avLst/>
          </a:prstGeom>
          <a:ln w="19050">
            <a:solidFill>
              <a:srgbClr val="66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769864" y="1828800"/>
            <a:ext cx="640080" cy="640080"/>
          </a:xfrm>
          <a:prstGeom prst="ellipse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9864" y="1947672"/>
            <a:ext cx="64008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697480"/>
            <a:ext cx="196596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400" b="1">
                <a:solidFill>
                  <a:srgbClr val="162436"/>
                </a:solidFill>
                <a:latin typeface="Aptos"/>
              </a:defRPr>
            </a:pPr>
            <a:r>
              <a:t>Create gateway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3246120"/>
            <a:ext cx="1965960" cy="10972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100" b="0">
                <a:solidFill>
                  <a:srgbClr val="2D3741"/>
                </a:solidFill>
                <a:latin typeface="Aptos"/>
              </a:defRPr>
            </a:pPr>
            <a:r>
              <a:t>Server calculates amount and requests a Razorpay order.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55664" y="2148840"/>
            <a:ext cx="1005840" cy="0"/>
          </a:xfrm>
          <a:prstGeom prst="line">
            <a:avLst/>
          </a:prstGeom>
          <a:ln w="19050">
            <a:solidFill>
              <a:srgbClr val="66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29015" y="1828800"/>
            <a:ext cx="640080" cy="640080"/>
          </a:xfrm>
          <a:prstGeom prst="ellipse">
            <a:avLst/>
          </a:prstGeom>
          <a:solidFill>
            <a:srgbClr val="25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29015" y="1947672"/>
            <a:ext cx="64008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97480"/>
            <a:ext cx="196596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400" b="1">
                <a:solidFill>
                  <a:srgbClr val="162436"/>
                </a:solidFill>
                <a:latin typeface="Aptos"/>
              </a:defRPr>
            </a:pPr>
            <a:r>
              <a:t>Verify 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246120"/>
            <a:ext cx="1965960" cy="10972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100" b="0">
                <a:solidFill>
                  <a:srgbClr val="2D3741"/>
                </a:solidFill>
                <a:latin typeface="Aptos"/>
              </a:defRPr>
            </a:pPr>
            <a:r>
              <a:t>Server validates signature and payment/order details.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14815" y="2148840"/>
            <a:ext cx="1005840" cy="0"/>
          </a:xfrm>
          <a:prstGeom prst="line">
            <a:avLst/>
          </a:prstGeom>
          <a:ln w="19050">
            <a:solidFill>
              <a:srgbClr val="66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488167" y="1828800"/>
            <a:ext cx="640080" cy="640080"/>
          </a:xfrm>
          <a:prstGeom prst="ellipse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88167" y="1947672"/>
            <a:ext cx="64008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2697480"/>
            <a:ext cx="196596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400" b="1">
                <a:solidFill>
                  <a:srgbClr val="162436"/>
                </a:solidFill>
                <a:latin typeface="Aptos"/>
              </a:defRPr>
            </a:pPr>
            <a:r>
              <a:t>Update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3246120"/>
            <a:ext cx="1965960" cy="10972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100" b="0">
                <a:solidFill>
                  <a:srgbClr val="2D3741"/>
                </a:solidFill>
                <a:latin typeface="Aptos"/>
              </a:defRPr>
            </a:pPr>
            <a:r>
              <a:t>Payment is marked paid only after successful verification.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74920"/>
            <a:ext cx="1042416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1">
                <a:solidFill>
                  <a:srgbClr val="66737E"/>
                </a:solidFill>
                <a:latin typeface="Aptos"/>
              </a:defRPr>
            </a:pPr>
            <a:r>
              <a:t>UPI and other checkout methods depend on gateway account activation and configuration.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Security &amp; Data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Key precautions for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Keep database passwords and Razorpay secrets in environment variables, never in source control.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Store password hashes rather than plain-text passwords.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Authenticate users and authorize sensitive API actions.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Calculate order totals on the server using trusted database prices.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Verify payment signatures and transaction details on the server.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Use fictional sample data in public demos; protect real customer and order information.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Back up the database privately and test restore procedures.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Testing &amp; Current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What should be checked before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968F"/>
                </a:solidFill>
                <a:latin typeface="Aptos"/>
              </a:defRPr>
            </a:pPr>
            <a:r>
              <a:t>Core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4846320" cy="2852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• MySQL connection and schema</a:t>
            </a:r>
            <a:br/>
            <a:r>
              <a:t>• Customer registration persistence</a:t>
            </a:r>
            <a:br/>
            <a:r>
              <a:t>• Order creation and retrieval</a:t>
            </a:r>
            <a:br/>
            <a:r>
              <a:t>• Dashboard totals versus SQL counts</a:t>
            </a:r>
            <a:br/>
            <a:r>
              <a:t>• Payment success/failure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792224"/>
            <a:ext cx="48463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600" b="1">
                <a:solidFill>
                  <a:srgbClr val="25537E"/>
                </a:solidFill>
                <a:latin typeface="Aptos"/>
              </a:defRPr>
            </a:pPr>
            <a:r>
              <a:t>Checks remaining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67712"/>
            <a:ext cx="4846320" cy="2852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  <a:latin typeface="Aptos"/>
              </a:defRPr>
            </a:pPr>
            <a:r>
              <a:t>• Reconcile dashboard count mismatch</a:t>
            </a:r>
            <a:br/>
            <a:r>
              <a:t>• Confirm Razorpay UPI availability</a:t>
            </a:r>
            <a:br/>
            <a:r>
              <a:t>• Test end-to-end workflows</a:t>
            </a:r>
            <a:br/>
            <a:r>
              <a:t>• Review authorization and error handling</a:t>
            </a:r>
            <a:br/>
            <a:r>
              <a:t>• Prepare safe database setup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500" b="1">
                <a:solidFill>
                  <a:srgbClr val="DBA64A"/>
                </a:solidFill>
                <a:latin typeface="Aptos"/>
              </a:defRPr>
            </a:pPr>
            <a:r>
              <a:t>This is a development build; these checks must pass before production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2800" b="1">
                <a:solidFill>
                  <a:srgbClr val="162436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50292"/>
          </a:xfrm>
          <a:prstGeom prst="rect">
            <a:avLst/>
          </a:prstGeom>
          <a:solidFill>
            <a:srgbClr val="25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>
              <a:defRPr sz="1200" b="0">
                <a:solidFill>
                  <a:srgbClr val="66737E"/>
                </a:solidFill>
                <a:latin typeface="Aptos"/>
              </a:defRPr>
            </a:pPr>
            <a:r>
              <a:t>How Mealzy can be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800" b="0">
                <a:solidFill>
                  <a:srgbClr val="66737E"/>
                </a:solidFill>
                <a:latin typeface="Aptos"/>
              </a:defRPr>
            </a:pPr>
            <a:r>
              <a:t>MEALZY •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Improve dashboard analytics and date-based reports.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Normalize database relationships and add foreign-key constraints.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Add role-based access for customers, admins, and delivery users.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Test payment success, failure, cancellation, and refunds.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Add order notifications and delivery-status updates.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Deploy with HTTPS, secure configuration, monitoring, and regular backups.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Maintain the project on GitHub without credentials or real customer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00200"/>
            <a:ext cx="10698480" cy="8229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2400" b="1">
                <a:solidFill>
                  <a:srgbClr val="96DCD3"/>
                </a:solidFill>
                <a:latin typeface="Aptos"/>
              </a:defRPr>
            </a:pPr>
            <a:r>
              <a:t>MEALZY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69848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defRPr sz="1400" b="0">
                <a:solidFill>
                  <a:srgbClr val="DCE6EE"/>
                </a:solidFill>
                <a:latin typeface="Aptos"/>
              </a:defRPr>
            </a:pPr>
            <a:r>
              <a:t>Flask • MySQL • Web Development • Payment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804</Words>
  <Application>Microsoft Office PowerPoint</Application>
  <PresentationFormat>Widescreen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Mimmasad</dc:creator>
  <cp:keywords/>
  <dc:description>generated using python-pptx</dc:description>
  <cp:lastModifiedBy>Asikul sk sk</cp:lastModifiedBy>
  <cp:revision>2</cp:revision>
  <dcterms:created xsi:type="dcterms:W3CDTF">2013-01-27T09:14:16Z</dcterms:created>
  <dcterms:modified xsi:type="dcterms:W3CDTF">2026-10-30T11:53:52Z</dcterms:modified>
  <cp:category/>
</cp:coreProperties>
</file>